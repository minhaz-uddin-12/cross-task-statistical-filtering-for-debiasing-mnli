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E2761"/>
                </a:solidFill>
                <a:latin typeface="Arial"/>
              </a:rPr>
              <a:t>MNLI Validation Accuracy by Epoch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82.54</c:v>
                </c:pt>
                <c:pt idx="1">
                  <c:v>84.12</c:v>
                </c:pt>
                <c:pt idx="2">
                  <c:v>84.41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A6-4A8E-B6B8-49CE5669EE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Pruned</c:v>
                </c:pt>
              </c:strCache>
            </c:strRef>
          </c:tx>
          <c:spPr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79.66</c:v>
                </c:pt>
                <c:pt idx="1">
                  <c:v>80.77</c:v>
                </c:pt>
                <c:pt idx="2">
                  <c:v>80.12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A6-4A8E-B6B8-49CE5669EEC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8"/>
          <c:min val="75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Accuracy by Evaluation Set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MNLI dev</c:v>
                </c:pt>
                <c:pt idx="1">
                  <c:v>HANS</c:v>
                </c:pt>
                <c:pt idx="2">
                  <c:v>SNLI-hard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84.41</c:v>
                </c:pt>
                <c:pt idx="1">
                  <c:v>52.81</c:v>
                </c:pt>
                <c:pt idx="2">
                  <c:v>71.63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4-4344-ACD2-9141F4517B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Pruned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MNLI dev</c:v>
                </c:pt>
                <c:pt idx="1">
                  <c:v>HANS</c:v>
                </c:pt>
                <c:pt idx="2">
                  <c:v>SNLI-hard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80.77</c:v>
                </c:pt>
                <c:pt idx="1">
                  <c:v>57.45</c:v>
                </c:pt>
                <c:pt idx="2">
                  <c:v>66.569999999999993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64-4344-ACD2-9141F4517B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HANS Accuracy by Heuristic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Lexical Overlap</c:v>
                </c:pt>
                <c:pt idx="1">
                  <c:v>Subsequence</c:v>
                </c:pt>
                <c:pt idx="2">
                  <c:v>Constituent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53.1</c:v>
                </c:pt>
                <c:pt idx="1">
                  <c:v>51.4</c:v>
                </c:pt>
                <c:pt idx="2">
                  <c:v>53.9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9-48BA-8C7F-86C32C5DFF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Pruned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Lexical Overlap</c:v>
                </c:pt>
                <c:pt idx="1">
                  <c:v>Subsequence</c:v>
                </c:pt>
                <c:pt idx="2">
                  <c:v>Constituent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50.1</c:v>
                </c:pt>
                <c:pt idx="1">
                  <c:v>61.1</c:v>
                </c:pt>
                <c:pt idx="2">
                  <c:v>61.2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29-48BA-8C7F-86C32C5DFF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375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9659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ROBUSTNESS FOR NLI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Cross-Task Statistical Filtering for Debiasing MNLI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Minhaz Uddin   ·   Istieaque Chowdhury   ·   Antu Chowdhury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550468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Engineering, East Delta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measure the leaderboard,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always the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GLUE, SNLI, MNLI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3500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yardsticks the field uses to track NLU progress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Shortcuts, not reasoning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5844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win on word overlap and label-conditional patterns instead of real entailment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this creates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8188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leaderboard score doesn't guarantee the model understood anything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2194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“Models are good at</a:t>
            </a:r>
            <a:endParaRPr lang="en-US" sz="2000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shortcuts”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overlap or class-conditional word distributions that happen to line up with a label — rather than the actual relationship between a premise and a hypothesis.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4572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shortcut exists in training data, gradient descent will find it — and the model falls apart on out-of-distribution or adversarial examples.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Prune the data, not the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 the statistic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uniform-prior z-statistic with each task's own empirical class prior, so it holds on GLUE's imbalanced tasks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6FD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27448" y="228600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74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27448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the human step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candidate shortcuts with a cross-task statistical check instead of paid Mechanical Turk annotators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7888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67928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6792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67928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end to 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67928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real BERT-base checkpoints on original vs. pruned MNLI and evaluate on HANS and SNLI-hard — and report what actually happens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 look excellent and still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systematically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BERT-base model trained the standard way reaches 84% accuracy on MNLI validation — a strong, publishable number. But split that same model's HANS predictions by heuristic and gold label and a very different picture appears.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lexical overlap is high but the correct label is non-entailment — exactly the case the model needs to get right — it collapses to near-chance. That gap is invisible in the topline metric.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0" y="1920240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0" y="23317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84.4%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MNLI validation accuracy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(matched + mismatched average)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858000" y="3794760"/>
            <a:ext cx="42976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0" y="402336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3–9%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the exact HANS subset that matters: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lexical overlap, gold = non-entailment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close efforts, two open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(2022)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shortcut discovery with BERT attention — but every candidate still needs sign-off from three paid Mechanical Turk annotators.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9718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(2022)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biased examples with a z-statistic — but it assumes a uniform label prior, needs a GPT-2 generator costing 2–3 GPU-days per dataset and was only ever applied to SNLI/MNLI.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12080" cy="3291840"/>
        </p:xfrm>
        <a:graphic>
          <a:graphicData uri="http://schemas.openxmlformats.org/drawingml/2006/table">
            <a:tbl>
              <a:tblPr/>
              <a:tblGrid>
                <a:gridCol w="104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2018 (GLUE)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Jakubik et al.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paper actually adds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653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data-centric pipeline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4440" y="22494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spurious correlations in GLUE by analyzing training data itself, not the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9169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generalized z-filter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34440" y="330098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each task's empirical class prior instead of an assumed uniform one — valid on imbalanced, non-ternary GLUE tasks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9684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human-free verification step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4440" y="43525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cross-task stability check replaces Mechanical Turk annotation with a statistic computed from label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0200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honest, real evaluation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34440" y="54041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BERT-base training and HANS/SNLI-hard evaluation that reports a real trade-off, not a cherry-picked win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GLUE suite, MNLI as the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· SST-2 · MRPC · STS-B · QQP · MNLI · QNLI · RTE · WNLI + diagnostic set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4231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MNLI and SNLI serve as the worked example throughout: their annotation artifacts are the best documented in prior work and MNLI is the direct comparison point with Wu et al. (2022).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7947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Pruned class balance shifts away from uniform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4434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 entailment  ·  30.8% neutral  ·  41.3% contradiction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what got removed were entailment-labeled, high-overlap pairs.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74520"/>
          <a:ext cx="5212080" cy="1508760"/>
        </p:xfrm>
        <a:graphic>
          <a:graphicData uri="http://schemas.openxmlformats.org/drawingml/2006/table">
            <a:tbl>
              <a:tblPr/>
              <a:tblGrid>
                <a:gridCol w="1042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(M)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(MM)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MNLI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412,349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Pruned MNLI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316,925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336,572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342900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−19%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pairs removed — all traced to lexical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overlap, the only cross-task-stable feature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</a:t>
            </a:r>
            <a:endParaRPr lang="en-US" sz="3000" dirty="0"/>
          </a:p>
        </p:txBody>
      </p:sp>
      <p:pic>
        <p:nvPicPr>
          <p:cNvPr id="4" name="Image 0" descr="/home/claude/deck/assets/methodolog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541002"/>
            <a:ext cx="3458181" cy="57759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34440" y="181051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task-independent features from every training pair (unigrams, bigrams, length, lexical overlap)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999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2980944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feature with the generalized z-statistic against the task's own class prior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415137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candidates with a cross-task stability check instead of human annotation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" y="5340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34440" y="53218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only the confirmed shortcuts — model, loss, and evaluation protocol stay untouched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uniform-prior assumption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(2022) — exact only for balanced 3-way NLI</a:t>
            </a:r>
            <a:endParaRPr lang="en-US" sz="1300" dirty="0"/>
          </a:p>
        </p:txBody>
      </p:sp>
      <p:pic>
        <p:nvPicPr>
          <p:cNvPr id="5" name="Image 0" descr="/home/claude/deck/assets/formula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48840"/>
            <a:ext cx="6217920" cy="12089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5204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splits roughly 70/30. Testing against p₀ = 0.5 would flag ordinary base-rate imbalance as if it were a spurious correlation.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4434840"/>
            <a:ext cx="110642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— each task's own empirical class prior</a:t>
            </a:r>
            <a:endParaRPr lang="en-US" sz="1300" dirty="0"/>
          </a:p>
        </p:txBody>
      </p:sp>
      <p:pic>
        <p:nvPicPr>
          <p:cNvPr id="9" name="Image 1" descr="/home/claude/deck/assets/formula_generaliz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56048"/>
            <a:ext cx="5486400" cy="13276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0" y="4572000"/>
            <a:ext cx="3383280" cy="1783080"/>
          </a:xfrm>
          <a:prstGeom prst="roundRect">
            <a:avLst>
              <a:gd name="adj" fmla="val 5128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503920" y="4773168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interpretation. Correct null hypothesis for the task at hand — not an assumed 3-way balance.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statistic stands in for the annotator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(2022) send every candidate shortcut to three Mechanical Turk annotators before it counts — the human bottleneck inside an otherwise-automatic pipeline.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31546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compute an equivalent check directly from label statistics: a feature is pruned only if it shows z* ≥ 5 in more than one GLUE task sharing its label family (MNLI, QNLI, RTE).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4617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anomalous in one task but unremarkable elsewhere is more likely domain-specific and genuine — so it's kept.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219456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60,063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unigrams and bigrams confirmed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tasks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766560" y="3520440"/>
            <a:ext cx="448056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374904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9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surface-feature buckets confirmed —</a:t>
            </a:r>
            <a:endParaRPr lang="en-US" sz="40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lexical-overlap buckets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66560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and length-ratio buckets did not pass. Every pruning decision traces back to lexical overlap alone.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  · 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model, same hyperparameters,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training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 · 3 epochs · AdamW lr 2e-5 · batch 64 · max length 128 · single T4 GPU · seed 42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2286000"/>
          <a:ext cx="6492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228600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overfitting signal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297180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condition improves monotonically — epoch 3 is its best checkpoint.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pruned condition peaks at epoch 2 (80.77%) and gets worse at epoch 3 (80.12%).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fixed-epoch protocol would have silently absorbed that into the reported number. We select checkpoints by best validation accuracy instead of last epoch.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  · 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trade-off, in one chart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8288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96596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782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MNLI dev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7824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778240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cost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49640" y="338328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2F6FD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7824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778240" y="3703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77824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gain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549640" y="480060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77824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SNLI-hard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778240" y="5120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−5.1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778240" y="5733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drop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  · 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HANS topline hides more than it shows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82880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28800"/>
            <a:ext cx="3977640" cy="4297680"/>
          </a:xfrm>
          <a:prstGeom prst="roundRect">
            <a:avLst>
              <a:gd name="adj" fmla="val 2759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09560" y="2103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heuristics improve a lot.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2514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Subsequence +9.7 pts, Constituent +7.3 pts.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0956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gets worse.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09560" y="36118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overlap drops −3.0 pts — the exact heuristic the pruning targeted.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09560" y="46634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contradiction is the seed of the overshoot effect — covered next in Error Analysis.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 ·  1 OF 2  ·  QUANTITATIVE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three features, and what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actually got wrong</a:t>
            </a:r>
            <a:endParaRPr lang="en-US" sz="3000" dirty="0"/>
          </a:p>
        </p:txBody>
      </p:sp>
      <p:pic>
        <p:nvPicPr>
          <p:cNvPr id="4" name="Image 0" descr="/home/claude/deck/assets/zstat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4745324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32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overlap_high clears the z* ≥ 5 threshold by more than 30×. overlap_med, the weakest of the three, is pruned the least aggressively as a result.</a:t>
            </a:r>
            <a:endParaRPr lang="en-US" sz="1150" dirty="0"/>
          </a:p>
        </p:txBody>
      </p:sp>
      <p:pic>
        <p:nvPicPr>
          <p:cNvPr id="6" name="Image 1" descr="/home/claude/deck/assets/hans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874520"/>
            <a:ext cx="5760720" cy="26846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4787756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035040" y="48974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35040" y="52449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0.679  ·  R 0.528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035040" y="56838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entailment 96% of the time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869680" y="4787756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2F6FD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052560" y="48974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052560" y="52449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0.582  ·  R 0.574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052560" y="56838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precision for recall, almost 1-for-1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 ·  2 OF 2  ·  THE OVERSHOOT EFFECT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 fixes the direction, then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overcorrects</a:t>
            </a:r>
            <a:endParaRPr lang="en-US" sz="3000" dirty="0"/>
          </a:p>
        </p:txBody>
      </p:sp>
      <p:pic>
        <p:nvPicPr>
          <p:cNvPr id="4" name="Image 0" descr="/home/claude/deck/assets/hans_oversh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1554480"/>
            <a:ext cx="7863840" cy="3507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08925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Entailment: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~97–100% → 37–48%.  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Non-entailment: 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~3–9% → 63–81%.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547330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" y="556474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gold: non-entailment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9808" y="583906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student saw the managers.” → “The managers saw the student.”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entailment (wrong)  →  Pruned: non-entailment (right)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90488" y="547330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2F6FD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73368" y="5564746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  </a:t>
            </a: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gold: entailment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373368" y="583906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tourist advised the artists who admired the secretaries.” → “The artists admired the secretaries.”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entailment (right)  →  Pruned: non-entailment (wrong)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tested and what's still open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653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seed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across seeds could be as large as some effects reported here — multi-seed replication is the priority next step.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19125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tested the obvious fix — it doesn't work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34440" y="36118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pruning (α = 0.5) keeps MNLI accuracy near baseline (84.11% vs. 84.41%), but HANS falls to 51.86%, below the untouched baseline and the subsequence/constituent gains shrink to +0.03 pts.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5171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MNLI only, so far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34440" y="4937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Feature-set adaptations for CoLA, SST-2, and STS-B are implemented but not yet evaluated end-to-end.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 data moves HANS from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52.81% to 57.45% — without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touching the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gain comes with real costs: a drop on MNLI's own validation set, a drop on SNLI-hard and an overshoot on the very heuristic the pruning targeted. Reporting those costs alongside the gain is more useful than reporting the gain alone.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57200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F2F6FD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4754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44368" y="457200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27248" y="4754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27248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MNLI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21808" y="4572000"/>
            <a:ext cx="2148840" cy="1554480"/>
          </a:xfrm>
          <a:prstGeom prst="roundRect">
            <a:avLst>
              <a:gd name="adj" fmla="val 5882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04688" y="4754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−5.1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504688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SNLI-hard 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718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Castellar" panose="020A0402060406010301" pitchFamily="18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>
              <a:latin typeface="Castellar" panose="020A0402060406010301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1587</Words>
  <Application>Microsoft Office PowerPoint</Application>
  <PresentationFormat>Widescreen</PresentationFormat>
  <Paragraphs>256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Castellar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MINHAZ UDDIN</cp:lastModifiedBy>
  <cp:revision>10</cp:revision>
  <dcterms:created xsi:type="dcterms:W3CDTF">2026-08-25T04:07:24Z</dcterms:created>
  <dcterms:modified xsi:type="dcterms:W3CDTF">2026-08-25T04:19:18Z</dcterms:modified>
</cp:coreProperties>
</file>